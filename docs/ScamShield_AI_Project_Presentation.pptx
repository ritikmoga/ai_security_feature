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01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pic>
        <p:nvPicPr>
          <p:cNvPr id="5" name="Picture 4" descr="cybersecurity-3d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"/>
            <a:ext cx="12191695" cy="4343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3152"/>
            <a:ext cx="12191695" cy="4343400"/>
          </a:xfrm>
          <a:prstGeom prst="rect">
            <a:avLst/>
          </a:prstGeom>
          <a:solidFill>
            <a:srgbClr val="08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5F5"/>
                </a:solidFill>
                <a:latin typeface="Aptos"/>
              </a:rPr>
              <a:t>SCAMSHIELD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12080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8A99"/>
                </a:solidFill>
                <a:latin typeface="Aptos"/>
              </a:rPr>
              <a:t>A defensive security-scanning platform for modern digital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9729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A6A9"/>
                </a:solidFill>
                <a:latin typeface="Aptos"/>
              </a:rPr>
              <a:t>Project presentation  •  Ritik Moga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PROTECT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01  • 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What this deck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The security problem and product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Platform architecture, scans, and risk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Authentication, persistence, deployment, and roadmap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03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02  •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Digital threats move faster than human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Links, messages, attachments, and QR codes can hide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Users need a clear, fast, defensive first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The goal is triage—not executing suspicious content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Unknown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Human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04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03  • 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One defensive workspace for four common attack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A single console reduces switching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Each input type receives purpose-built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Risk reports translate signals into practical next actions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7269480" y="2377440"/>
            <a:ext cx="2011680" cy="1673351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281160" y="2011680"/>
            <a:ext cx="0" cy="2039111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281160" y="2377440"/>
            <a:ext cx="2011680" cy="1673351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269480" y="4050791"/>
            <a:ext cx="2011680" cy="886968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4050791"/>
            <a:ext cx="0" cy="1252729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81160" y="4050791"/>
            <a:ext cx="2011680" cy="886968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49640" y="3703320"/>
            <a:ext cx="1554480" cy="731520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3831335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ScamShield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4105656"/>
            <a:ext cx="1408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05740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18541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URLs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45973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169164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181965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09397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61320" y="205740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218541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245973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61772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474573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QR codes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502005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498348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511149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538581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05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04  •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A layered platform designed for safe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React + TypeScript delivers the operator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Flask coordinates validation, analysis, scoring, and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Optional providers extend local heuristics without becoming a dependency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121639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Detectors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95960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6911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6911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06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05  • 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A crimson security operations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Persistent sidebar creates dedicated scanner workspaces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Results use risk badges, gauges, findings, and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Google sign-in enables personal history when configured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Sidebar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Scanner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API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Result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07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06  • 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Separate pages keep every scanning task focused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URL, message, file, and QR workflows are not hidden in one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Reports and lookup are separate destinations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Administrators receive a platform-posture destination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7269480" y="2377440"/>
            <a:ext cx="2011680" cy="1673351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281160" y="2011680"/>
            <a:ext cx="0" cy="2039111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281160" y="2377440"/>
            <a:ext cx="2011680" cy="1673351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269480" y="4050791"/>
            <a:ext cx="2011680" cy="886968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4050791"/>
            <a:ext cx="0" cy="1252729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81160" y="4050791"/>
            <a:ext cx="2011680" cy="886968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49640" y="3703320"/>
            <a:ext cx="1554480" cy="731520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3831335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4105656"/>
            <a:ext cx="1408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05740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18541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45973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169164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181965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09397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61320" y="205740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218541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245973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61772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474573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502005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498348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511149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538581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61320" y="4617720"/>
            <a:ext cx="14630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34472" y="474573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4472" y="5020056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module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08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07  •  URL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URL intelligence combines syntax and safety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Validates scheme and host before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Flags suspicious patterns, redirect bait, and phishing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Avoids unsafe fetching of local or private network targets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Heuristics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Risk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09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08  •  MESSAGE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Message analysis surfaces social-engineering indicators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Inspects subject, body, attachment names, and embedded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Findings remain explainable instead of opaque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Output recommends safe next actions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URL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Malware cues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10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09  •  FILE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Static inspection protects the scanner and the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Uploads are saved only to a temporary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The service never executes uploaded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Allowed extensions and size caps reduce attack surface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Allowlist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Temp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Static 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11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10  •  QR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QR images are decoded locally before server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The browser decodes QR image content with jsQR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Only decoded text is sent to the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The resulting text is inspected like a URL or message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QR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Browser 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Heuristics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11  •  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Risk scoring turns many signals into one clear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Each finding contributes a weighted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Severity bonuses preserve serious indicators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Risk bands keep the response understandable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0–100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Risk band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13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12  • 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Reports are useful security artifacts—not just a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Every report has a scan ID and timestamp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Findings retain evidence and 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Signed-in users can revisit stored scan history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JSON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Local archive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User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Lookup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14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13  • 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Google Sign-In is verified server-side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Browser receives a Google ID credential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Flask verifies the ID token audience and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The app issues short-lived access and refresh JWTs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ID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Flask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JWT pair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15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14  • 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Storage scales from local development to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SQLite gives the project a zero-setup local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PostgreSQL schema models users, reports, sessions, keys, and audit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Migration adds Google identity fields for production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User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Audit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16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15  •  RATE LIMITING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Abuse protection has a development and production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In-memory windows keep local demos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Redis enables distributed limits across API 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Fallback behavior keeps the service available during Redis outages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Limiter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429 retry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17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16  •  API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Defensive defaults are built into the request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Input validation constrains size, shape, and allowed file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Request IDs improve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Security headers, CORS controls, and safe error messages reduce exposure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Trace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Secure headers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18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17  • 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Quality gates protect the project as it evolves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GitHub Actions runs backend tests and frontend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Dependabot tracks dependency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Pre-commit rules catch common repository mistakes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83879" y="2286000"/>
            <a:ext cx="2240281" cy="45720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2743200"/>
            <a:ext cx="0" cy="214884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83879" y="4892040"/>
            <a:ext cx="2240281" cy="41148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6675120" y="3794759"/>
            <a:ext cx="1508759" cy="1508761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75120" y="2286000"/>
            <a:ext cx="1508759" cy="1508759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79" y="1965960"/>
            <a:ext cx="141732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209397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36829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2423160"/>
            <a:ext cx="141732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255117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Pre-commit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282549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4572000"/>
            <a:ext cx="141732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470001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497433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983480"/>
            <a:ext cx="141732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511149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538581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474720"/>
            <a:ext cx="141732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360273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387705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19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18  • 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Container-ready today, production-ready by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Docker packages the Flask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Persistent data volume supports the local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Production uses HTTPS, strict CORS, managed Postgres, Redis, and secret management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API container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Reverse proxy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20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19  •  OPENAPI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A documented API improves integration and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OpenAPI describes health, scan, auth, refresh, and dashboard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Typed frontend helpers centralize request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Consistent envelopes simplify client error handling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OpenAPI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Typed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Consumers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21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20  •  THREAT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Security decisions are driven by explicit assets and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Uploads: static-only handling and deletion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Accounts: verified Google tokens and JWT expiry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Reports: authenticated history, retention guidance, and audit-ready schema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83879" y="2286000"/>
            <a:ext cx="2240281" cy="45720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2743200"/>
            <a:ext cx="0" cy="214884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83879" y="4892040"/>
            <a:ext cx="2240281" cy="41148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6675120" y="3794759"/>
            <a:ext cx="1508759" cy="1508761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75120" y="2286000"/>
            <a:ext cx="1508759" cy="1508759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79" y="1965960"/>
            <a:ext cx="141732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209397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36829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2423160"/>
            <a:ext cx="141732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255117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Threats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282549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4572000"/>
            <a:ext cx="141732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470001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497433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983480"/>
            <a:ext cx="141732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511149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538581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474720"/>
            <a:ext cx="141732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360273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3877056"/>
            <a:ext cx="1271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step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22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21  • 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5F5"/>
                </a:solidFill>
                <a:latin typeface="Aptos"/>
              </a:rPr>
              <a:t>From capable project to production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Connect real Google credentials and configure 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Activate PostgreSQL and Redis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• Add queue workers, isolated malware engines, and observability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85447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Workers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59767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32919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01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FA6A9"/>
                </a:solidFill>
                <a:latin typeface="Aptos"/>
              </a:rPr>
              <a:t>22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SCAMSHIELD AI  •  DEFENSIVE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FFF5F5"/>
                </a:solidFill>
                <a:latin typeface="Aptos"/>
              </a:rPr>
              <a:t>Build defensively. Explain clearly. Improve continuously.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73736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8A99"/>
                </a:solidFill>
                <a:latin typeface="Aptos"/>
              </a:rPr>
              <a:t>ScamShield AI is a project foundation for safer digital decisions.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76872" y="3758184"/>
            <a:ext cx="274320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513063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49255" y="3758184"/>
            <a:ext cx="274321" cy="0"/>
          </a:xfrm>
          <a:prstGeom prst="line">
            <a:avLst/>
          </a:prstGeom>
          <a:ln w="2286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715000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1192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24344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4344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87384" y="3429000"/>
            <a:ext cx="123444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0536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536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23576" y="3429000"/>
            <a:ext cx="123444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96728" y="3557016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5F5"/>
                </a:solidFill>
                <a:latin typeface="Aptos"/>
              </a:rPr>
              <a:t>PROTECT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96728" y="3831336"/>
            <a:ext cx="10881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FA6A9"/>
                </a:solidFill>
                <a:latin typeface="Aptos"/>
              </a:rPr>
              <a:t>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7091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11D3A"/>
                </a:solidFill>
                <a:latin typeface="Aptos"/>
              </a:rPr>
              <a:t>github.com/ritikmoga/AI_SECURITY_FEATURE</a:t>
            </a:r>
          </a:p>
        </p:txBody>
      </p:sp>
    </p:spTree>
  </p:cSld>
  <p:transition spd="slow" advClick="1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LIVE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5F5"/>
                </a:solidFill>
                <a:latin typeface="Aptos"/>
              </a:rPr>
              <a:t>Dashboard overview — live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11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FA6A9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SAFE TEST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4892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Opened the local React security dashboard at http://127.0.0.1:5174.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546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SCORER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154680"/>
            <a:ext cx="137160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5F5"/>
                </a:solidFill>
                <a:latin typeface="Aptos"/>
              </a:rPr>
              <a:t>The dashboard loaded successfully with sidebar navigation and live service status.</a:t>
            </a:r>
          </a:p>
        </p:txBody>
      </p:sp>
      <p:pic>
        <p:nvPicPr>
          <p:cNvPr id="21" name="Picture 20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546" y="1325880"/>
            <a:ext cx="5060546" cy="5120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16752" y="1252728"/>
            <a:ext cx="5669280" cy="5257800"/>
          </a:xfrm>
          <a:prstGeom prst="rect">
            <a:avLst/>
          </a:prstGeom>
          <a:noFill/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LIVE LOCAL UI CAPTURE  •  127.0.0.1:5174 → 127.0.0.1:5000</a:t>
            </a:r>
          </a:p>
        </p:txBody>
      </p:sp>
    </p:spTree>
  </p:cSld>
  <p:transition spd="slow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LIVE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5F5"/>
                </a:solidFill>
                <a:latin typeface="Aptos"/>
              </a:rPr>
              <a:t>URL scan — safe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11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FA6A9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SAFE TEST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4892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https://example.com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546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SCORER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154680"/>
            <a:ext cx="137160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5F5"/>
                </a:solidFill>
                <a:latin typeface="Aptos"/>
              </a:rPr>
              <a:t>The report returned a Safe verdict with an explainable informational finding.</a:t>
            </a:r>
          </a:p>
        </p:txBody>
      </p:sp>
      <p:pic>
        <p:nvPicPr>
          <p:cNvPr id="21" name="Picture 20" descr="02_url_safe_resul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368" y="1325880"/>
            <a:ext cx="4098902" cy="5120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16752" y="1252728"/>
            <a:ext cx="5669280" cy="5257800"/>
          </a:xfrm>
          <a:prstGeom prst="rect">
            <a:avLst/>
          </a:prstGeom>
          <a:noFill/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LIVE LOCAL UI CAPTURE  •  127.0.0.1:5174 → 127.0.0.1:5000</a:t>
            </a:r>
          </a:p>
        </p:txBody>
      </p:sp>
    </p:spTree>
  </p:cSld>
  <p:transition spd="slow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LIVE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5F5"/>
                </a:solidFill>
                <a:latin typeface="Aptos"/>
              </a:rPr>
              <a:t>URL scan — suspicious pattern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11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FA6A9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SAFE TEST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4892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http://paypal-security-check.example.invalid/login?verify=account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546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SCORER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154680"/>
            <a:ext cx="137160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5F5"/>
                </a:solidFill>
                <a:latin typeface="Aptos"/>
              </a:rPr>
              <a:t>The local heuristics identified risky structural signals and produced a high-risk response.</a:t>
            </a:r>
          </a:p>
        </p:txBody>
      </p:sp>
      <p:pic>
        <p:nvPicPr>
          <p:cNvPr id="21" name="Picture 20" descr="03_url_high_risk_resul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09" y="1325880"/>
            <a:ext cx="3187621" cy="5120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16752" y="1252728"/>
            <a:ext cx="5669280" cy="5257800"/>
          </a:xfrm>
          <a:prstGeom prst="rect">
            <a:avLst/>
          </a:prstGeom>
          <a:noFill/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LIVE LOCAL UI CAPTURE  •  127.0.0.1:5174 → 127.0.0.1:5000</a:t>
            </a:r>
          </a:p>
        </p:txBody>
      </p:sp>
    </p:spTree>
  </p:cSld>
  <p:transition spd="slow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LIVE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5F5"/>
                </a:solidFill>
                <a:latin typeface="Aptos"/>
              </a:rPr>
              <a:t>Message scan — phishing-style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11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FA6A9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SAFE TEST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4892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Urgent account-review text plus invoice.pdf.exe attachment metadata.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546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SCORER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154680"/>
            <a:ext cx="137160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5F5"/>
                </a:solidFill>
                <a:latin typeface="Aptos"/>
              </a:rPr>
              <a:t>Message, URL, and attachment indicators were combined into one defensive report.</a:t>
            </a:r>
          </a:p>
        </p:txBody>
      </p:sp>
      <p:pic>
        <p:nvPicPr>
          <p:cNvPr id="21" name="Picture 20" descr="04_message_resul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66" y="1325880"/>
            <a:ext cx="2402707" cy="5120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16752" y="1252728"/>
            <a:ext cx="5669280" cy="5257800"/>
          </a:xfrm>
          <a:prstGeom prst="rect">
            <a:avLst/>
          </a:prstGeom>
          <a:noFill/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LIVE LOCAL UI CAPTURE  •  127.0.0.1:5174 → 127.0.0.1:5000</a:t>
            </a:r>
          </a:p>
        </p:txBody>
      </p:sp>
    </p:spTree>
  </p:cSld>
  <p:transition spd="slow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LIVE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5F5"/>
                </a:solidFill>
                <a:latin typeface="Aptos"/>
              </a:rPr>
              <a:t>File scan — safe static-analysis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11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FA6A9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SAFE TEST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4892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tests/fixtures/safe_test.txt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546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SCORER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154680"/>
            <a:ext cx="137160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5F5"/>
                </a:solidFill>
                <a:latin typeface="Aptos"/>
              </a:rPr>
              <a:t>A harmless sample file was inspected statically; no file execution occurred.</a:t>
            </a:r>
          </a:p>
        </p:txBody>
      </p:sp>
      <p:pic>
        <p:nvPicPr>
          <p:cNvPr id="21" name="Picture 20" descr="05_file_resul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976" y="1325880"/>
            <a:ext cx="3801687" cy="5120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16752" y="1252728"/>
            <a:ext cx="5669280" cy="5257800"/>
          </a:xfrm>
          <a:prstGeom prst="rect">
            <a:avLst/>
          </a:prstGeom>
          <a:noFill/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LIVE LOCAL UI CAPTURE  •  127.0.0.1:5174 → 127.0.0.1:5000</a:t>
            </a:r>
          </a:p>
        </p:txBody>
      </p:sp>
    </p:spTree>
  </p:cSld>
  <p:transition spd="slow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LIVE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5F5"/>
                </a:solidFill>
                <a:latin typeface="Aptos"/>
              </a:rPr>
              <a:t>QR scan — decoded text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11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FA6A9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SAFE TEST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4892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Decoded QR payload: https://example.com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546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SCORER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154680"/>
            <a:ext cx="137160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5F5"/>
                </a:solidFill>
                <a:latin typeface="Aptos"/>
              </a:rPr>
              <a:t>The decoded QR text was analyzed using the same safe URL-focused workflow.</a:t>
            </a:r>
          </a:p>
        </p:txBody>
      </p:sp>
      <p:pic>
        <p:nvPicPr>
          <p:cNvPr id="21" name="Picture 20" descr="06_qr_resul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976" y="1325880"/>
            <a:ext cx="3801687" cy="5120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16752" y="1252728"/>
            <a:ext cx="5669280" cy="5257800"/>
          </a:xfrm>
          <a:prstGeom prst="rect">
            <a:avLst/>
          </a:prstGeom>
          <a:noFill/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LIVE LOCAL UI CAPTURE  •  127.0.0.1:5174 → 127.0.0.1:5000</a:t>
            </a:r>
          </a:p>
        </p:txBody>
      </p:sp>
    </p:spTree>
  </p:cSld>
  <p:transition spd="slow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11D3A"/>
                </a:solidFill>
                <a:latin typeface="Aptos"/>
              </a:rPr>
              <a:t>LIVE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5F5"/>
                </a:solidFill>
                <a:latin typeface="Aptos"/>
              </a:rPr>
              <a:t>Report lookup — persisted scan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11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FA6A9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SAFE TEST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4892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A99"/>
                </a:solidFill>
                <a:latin typeface="Aptos"/>
              </a:rPr>
              <a:t>A scan ID captured from the URL test was submitted to the report lookup screen.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546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3493008"/>
            <a:ext cx="640080" cy="0"/>
          </a:xfrm>
          <a:prstGeom prst="line">
            <a:avLst/>
          </a:prstGeom>
          <a:ln w="20320">
            <a:solidFill>
              <a:srgbClr val="E11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1371600" cy="658368"/>
          </a:xfrm>
          <a:prstGeom prst="roundRect">
            <a:avLst/>
          </a:prstGeom>
          <a:solidFill>
            <a:srgbClr val="1A070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SCORER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154680"/>
            <a:ext cx="1371600" cy="658368"/>
          </a:xfrm>
          <a:prstGeom prst="roundRect">
            <a:avLst/>
          </a:prstGeom>
          <a:solidFill>
            <a:srgbClr val="E11D3A"/>
          </a:solidFill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310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5F5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11D3A"/>
                </a:solidFill>
                <a:latin typeface="Aptos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5F5"/>
                </a:solidFill>
                <a:latin typeface="Aptos"/>
              </a:rPr>
              <a:t>The API returned the original saved report by ID, validating the report retrieval workflow.</a:t>
            </a:r>
          </a:p>
        </p:txBody>
      </p:sp>
      <p:pic>
        <p:nvPicPr>
          <p:cNvPr id="21" name="Picture 20" descr="07_report_lookup_resul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368" y="1325880"/>
            <a:ext cx="4098902" cy="5120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016752" y="1252728"/>
            <a:ext cx="5669280" cy="5257800"/>
          </a:xfrm>
          <a:prstGeom prst="rect">
            <a:avLst/>
          </a:prstGeom>
          <a:noFill/>
          <a:ln>
            <a:solidFill>
              <a:srgbClr val="E1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FA6A9"/>
                </a:solidFill>
                <a:latin typeface="Aptos"/>
              </a:rPr>
              <a:t>LIVE LOCAL UI CAPTURE  •  127.0.0.1:5174 → 127.0.0.1:5000</a:t>
            </a:r>
          </a:p>
        </p:txBody>
      </p:sp>
    </p:spTree>
  </p:cSld>
  <p:transition spd="slow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